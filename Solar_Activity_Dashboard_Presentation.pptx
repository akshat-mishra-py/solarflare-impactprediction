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64008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 dirty="0">
                <a:solidFill>
                  <a:srgbClr val="D69E2E"/>
                </a:solidFill>
                <a:latin typeface="Aptos"/>
              </a:rPr>
              <a:t>SOLAR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7498079" cy="1417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800" b="1" dirty="0">
                <a:solidFill>
                  <a:srgbClr val="FFFFFF"/>
                </a:solidFill>
                <a:latin typeface="Aptos Display"/>
              </a:rPr>
              <a:t>From observation
to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6400800" cy="615553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0" dirty="0">
                <a:solidFill>
                  <a:srgbClr val="D9E7E5"/>
                </a:solidFill>
                <a:latin typeface="Aptos"/>
              </a:rPr>
              <a:t>An authenticated </a:t>
            </a:r>
            <a:r>
              <a:rPr sz="1700" b="0" dirty="0" err="1">
                <a:solidFill>
                  <a:srgbClr val="D9E7E5"/>
                </a:solidFill>
                <a:latin typeface="Aptos"/>
              </a:rPr>
              <a:t>Streamlit</a:t>
            </a:r>
            <a:r>
              <a:rPr sz="1700" b="0" dirty="0">
                <a:solidFill>
                  <a:srgbClr val="D9E7E5"/>
                </a:solidFill>
                <a:latin typeface="Aptos"/>
              </a:rPr>
              <a:t> dashboard for live space weather,
NOAA flare analysis, and an interpretable 24-hour forecast.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9788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8DDD5"/>
                </a:solidFill>
                <a:latin typeface="Aptos"/>
              </a:rPr>
              <a:t>PROJECT EXHIBITION  |  2026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234440"/>
            <a:ext cx="2468880" cy="2468880"/>
          </a:xfrm>
          <a:prstGeom prst="ellipse">
            <a:avLst/>
          </a:prstGeom>
          <a:solidFill>
            <a:srgbClr val="D95D39"/>
          </a:solidFill>
          <a:ln w="254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81060" y="1485900"/>
            <a:ext cx="1965960" cy="1965960"/>
          </a:xfrm>
          <a:prstGeom prst="ellipse">
            <a:avLst/>
          </a:prstGeom>
          <a:solidFill>
            <a:srgbClr val="E77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55380" y="1760220"/>
            <a:ext cx="1417320" cy="141732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52560" y="2057400"/>
            <a:ext cx="822960" cy="822960"/>
          </a:xfrm>
          <a:prstGeom prst="ellipse">
            <a:avLst/>
          </a:prstGeom>
          <a:solidFill>
            <a:srgbClr val="FFD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4343400"/>
            <a:ext cx="2286000" cy="55399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Solar Flare &amp; CME impact Prediction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D95D39"/>
                </a:solidFill>
                <a:latin typeface="Aptos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1">
                <a:solidFill>
                  <a:srgbClr val="52616B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10972800" cy="13716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8334A"/>
                </a:solidFill>
                <a:latin typeface="Aptos Display"/>
              </a:rPr>
              <a:t>A clearer way to read a changing Sun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24128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Space-weather data is valuable only when observations, timing, and uncertainty remain visible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429000" cy="2057400"/>
          </a:xfrm>
          <a:prstGeom prst="roundRect">
            <a:avLst>
              <a:gd name="adj" fmla="val 3669"/>
            </a:avLst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73152" cy="205740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 dirty="0">
                <a:solidFill>
                  <a:srgbClr val="18334A"/>
                </a:solidFill>
                <a:latin typeface="Aptos"/>
              </a:rPr>
              <a:t>Fragmented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3017520" cy="1307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X-ray flux, solar wind, magnetic-field measurements, flares, and alerts arrive as separate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2057400"/>
          </a:xfrm>
          <a:prstGeom prst="roundRect">
            <a:avLst>
              <a:gd name="adj" fmla="val 4927"/>
            </a:avLst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205740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350008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Time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70632"/>
            <a:ext cx="3017520" cy="1307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The dashboard normalizes live observations to UTC and shows local time only where it helps planning.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48840"/>
            <a:ext cx="3429000" cy="2057400"/>
          </a:xfrm>
          <a:prstGeom prst="roundRect">
            <a:avLst>
              <a:gd name="adj" fmla="val 315"/>
            </a:avLst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148840"/>
            <a:ext cx="73152" cy="20574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350008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Interpretability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70632"/>
            <a:ext cx="3017520" cy="1307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A compact outlook explains class, probability, and severity instead of hiding the method behind a black box.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983480"/>
            <a:ext cx="1371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D95D39"/>
                </a:solidFill>
                <a:latin typeface="Aptos"/>
              </a:rPr>
              <a:t>Design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937760"/>
            <a:ext cx="896112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>
                <a:solidFill>
                  <a:srgbClr val="18334A"/>
                </a:solidFill>
                <a:latin typeface="Aptos Display"/>
              </a:rPr>
              <a:t>Make the current state of solar activity legible at a glance, then let the viewer inspect the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D95D39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1">
                <a:solidFill>
                  <a:srgbClr val="52616B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10972800" cy="13716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8334A"/>
                </a:solidFill>
                <a:latin typeface="Aptos Display"/>
              </a:rPr>
              <a:t>Three views, one coherent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24128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The application separates what is happening now, what happened recently, and what the demo model expects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429000" cy="28346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73152" cy="283464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01  Live space 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3017520" cy="20848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Aptos"/>
              </a:rPr>
              <a:t>Today's telemetry
60-second refresh
GOES X-ray, solar wind, Bz GSM,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57400"/>
            <a:ext cx="3429000" cy="28346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057400"/>
            <a:ext cx="73152" cy="283464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258568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02  Flare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79192"/>
            <a:ext cx="3017520" cy="20848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Aptos"/>
              </a:rPr>
              <a:t>A rolling seven-day analysis
Date filtering
Counts, classes, flux, regions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57400"/>
            <a:ext cx="3429000" cy="2834640"/>
          </a:xfrm>
          <a:prstGeom prst="roundRect">
            <a:avLst>
              <a:gd name="adj" fmla="val 1147"/>
            </a:avLst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057400"/>
            <a:ext cx="73152" cy="2834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258568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03  Flare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79192"/>
            <a:ext cx="3017520" cy="9541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 dirty="0">
                <a:solidFill>
                  <a:srgbClr val="52616B"/>
                </a:solidFill>
                <a:latin typeface="Aptos"/>
              </a:rPr>
              <a:t>A 24-hour </a:t>
            </a:r>
            <a:r>
              <a:rPr lang="en-US" sz="1400" dirty="0">
                <a:solidFill>
                  <a:srgbClr val="52616B"/>
                </a:solidFill>
                <a:latin typeface="Aptos"/>
              </a:rPr>
              <a:t>forecasting </a:t>
            </a:r>
            <a:r>
              <a:rPr sz="1400" b="0" dirty="0">
                <a:solidFill>
                  <a:srgbClr val="52616B"/>
                </a:solidFill>
                <a:latin typeface="Aptos"/>
              </a:rPr>
              <a:t>demo
Hourly probabilities
Likely class and 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60704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0">
                <a:solidFill>
                  <a:srgbClr val="52616B"/>
                </a:solidFill>
                <a:latin typeface="Aptos"/>
              </a:rPr>
              <a:t>Shared foundation: authentication, caching, rate controls, UTC-aware data handling, responsive metrics, charts, and tables.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D95D39"/>
                </a:solidFill>
                <a:latin typeface="Aptos"/>
              </a:rP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1">
                <a:solidFill>
                  <a:srgbClr val="52616B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10972800" cy="13716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8334A"/>
                </a:solidFill>
                <a:latin typeface="Aptos Display"/>
              </a:rPr>
              <a:t>Live space weather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24128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A current-state view for today's solar and near-Earth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123444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GOES flares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103120" cy="484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Reported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2024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920240"/>
            <a:ext cx="73152" cy="123444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121408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Radio / CME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42032"/>
            <a:ext cx="2103120" cy="484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Filtered NOAA notices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920240"/>
            <a:ext cx="73152" cy="12344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121408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Solar-wind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42032"/>
            <a:ext cx="2103120" cy="484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Latest km/s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92024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1920240"/>
            <a:ext cx="73152" cy="123444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2121408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Bz GSM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42032"/>
            <a:ext cx="2103120" cy="484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Latest 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5760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160020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858768"/>
            <a:ext cx="48006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Trend panels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79392"/>
            <a:ext cx="4800600" cy="8503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Aptos"/>
              </a:rPr>
              <a:t>X-ray flux and solar-wind speed show the latest movement. Magnetic Bz and proton density add near-Earth context.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65760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3657600"/>
            <a:ext cx="73152" cy="160020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858768"/>
            <a:ext cx="48006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Operational honesty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79392"/>
            <a:ext cx="4800600" cy="8503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Aptos"/>
              </a:rPr>
              <a:t>Delayed feeds trigger a visible warning. Empty alert and flare states remain explicit instead of implying zero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D95D39"/>
                </a:solidFill>
                <a:latin typeface="Aptos"/>
              </a:rP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1">
                <a:solidFill>
                  <a:srgbClr val="52616B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10972800" cy="13716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8334A"/>
                </a:solidFill>
                <a:latin typeface="Aptos Display"/>
              </a:rPr>
              <a:t>Flare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24128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A focused analysis view over NOAA's rolling seven-day GOES catalog.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937760" cy="2651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47F78"/>
                </a:solidFill>
                <a:latin typeface="Aptos"/>
              </a:rPr>
              <a:t>Filter</a:t>
            </a:r>
            <a:r>
              <a:rPr sz="1700">
                <a:solidFill>
                  <a:srgbClr val="233841"/>
                </a:solidFill>
                <a:latin typeface="Aptos"/>
              </a:rPr>
              <a:t>Choose a UTC start and end date within the available seven-day window.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47F78"/>
                </a:solidFill>
                <a:latin typeface="Aptos"/>
              </a:rPr>
              <a:t>Compare</a:t>
            </a:r>
            <a:r>
              <a:rPr sz="1700">
                <a:solidFill>
                  <a:srgbClr val="233841"/>
                </a:solidFill>
                <a:latin typeface="Aptos"/>
              </a:rPr>
              <a:t>Inspect daily counts, class distribution, peak flux, and the most active regions when supplied.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47F78"/>
                </a:solidFill>
                <a:latin typeface="Aptos"/>
              </a:rPr>
              <a:t>Inspect</a:t>
            </a:r>
            <a:r>
              <a:rPr sz="1700">
                <a:solidFill>
                  <a:srgbClr val="233841"/>
                </a:solidFill>
                <a:latin typeface="Aptos"/>
              </a:rPr>
              <a:t>Move from summary metrics to the underlying observation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73152" cy="132588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67128"/>
            <a:ext cx="19202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A / B /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87752"/>
            <a:ext cx="1920239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Lower-energy bands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96596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52560" y="1965960"/>
            <a:ext cx="73152" cy="13258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1160" y="2167128"/>
            <a:ext cx="19202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587752"/>
            <a:ext cx="1920239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High-energy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118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611880"/>
            <a:ext cx="73152" cy="132588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813048"/>
            <a:ext cx="19202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233672"/>
            <a:ext cx="1920239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Extreme band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61188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60" y="3611880"/>
            <a:ext cx="73152" cy="132588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3813048"/>
            <a:ext cx="19202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UTC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233672"/>
            <a:ext cx="1920239" cy="5760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Consistent time basis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49240"/>
            <a:ext cx="47548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Aptos"/>
              </a:rPr>
              <a:t>The page distinguishes a missing field from a zero observation, preserving the limits of the source catalog.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D95D39"/>
                </a:solidFill>
                <a:latin typeface="Aptos"/>
              </a:rP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1">
                <a:solidFill>
                  <a:srgbClr val="52616B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10972800" cy="13716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8334A"/>
                </a:solidFill>
                <a:latin typeface="Aptos Display"/>
              </a:rPr>
              <a:t>Flare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24128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A transparent 24-hour outlook built from the supplied historical sample.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73152" cy="237744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880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Historical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2880360" cy="1627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2616B"/>
                </a:solidFill>
                <a:latin typeface="Aptos"/>
              </a:rPr>
              <a:t>The model reads valid flare timestamps and class labels, then estimates activity by hour of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965960"/>
            <a:ext cx="73152" cy="23774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2880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87752"/>
            <a:ext cx="2880360" cy="1627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2616B"/>
                </a:solidFill>
                <a:latin typeface="Aptos"/>
              </a:rPr>
              <a:t>An empirical hourly event rate is smoothed with a 30-day prior and converted to a flare probability.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9659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965960"/>
            <a:ext cx="73152" cy="237744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167128"/>
            <a:ext cx="2880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87752"/>
            <a:ext cx="2880360" cy="1627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2616B"/>
                </a:solidFill>
                <a:latin typeface="Aptos"/>
              </a:rPr>
              <a:t>Historical class frequency selects a likely class; A/B/C/M/X bands map to Low through Extreme.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800" b="1">
                <a:solidFill>
                  <a:srgbClr val="18334A"/>
                </a:solidFill>
                <a:latin typeface="Aptos Display"/>
              </a:rPr>
              <a:t>The result is intentionally inspectable: every hour exposes its predicted class, probability, likely severity, and UTC/local timestamp.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D95D39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1">
                <a:solidFill>
                  <a:srgbClr val="52616B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10972800" cy="13716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8334A"/>
                </a:solidFill>
                <a:latin typeface="Aptos Display"/>
              </a:rPr>
              <a:t>How the demo forecast is produced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02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D95D3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2286000" cy="3693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dirty="0">
                <a:solidFill>
                  <a:srgbClr val="18334A"/>
                </a:solidFill>
                <a:latin typeface="Aptos"/>
              </a:rPr>
              <a:t>Clean</a:t>
            </a:r>
            <a:r>
              <a:rPr lang="en-US" sz="1800" b="1" dirty="0">
                <a:solidFill>
                  <a:srgbClr val="18334A"/>
                </a:solidFill>
                <a:latin typeface="Aptos"/>
              </a:rPr>
              <a:t> Data</a:t>
            </a:r>
            <a:endParaRPr sz="1800" b="1" dirty="0">
              <a:solidFill>
                <a:srgbClr val="18334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2148840" cy="1371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Aptos"/>
              </a:rPr>
              <a:t>Parse UTC timestamps and retain valid A/B/C/M/X class labels.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304288"/>
            <a:ext cx="411480" cy="22860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502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D95D39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286000" cy="3693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lang="en-IN" sz="1800" b="1" dirty="0">
                <a:solidFill>
                  <a:srgbClr val="18334A"/>
                </a:solidFill>
                <a:latin typeface="Aptos"/>
              </a:rPr>
              <a:t>Estimate Model</a:t>
            </a:r>
            <a:endParaRPr sz="1800" b="1" dirty="0">
              <a:solidFill>
                <a:srgbClr val="18334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3154680"/>
            <a:ext cx="2148840" cy="9541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 dirty="0">
                <a:solidFill>
                  <a:srgbClr val="52616B"/>
                </a:solidFill>
                <a:latin typeface="Aptos"/>
              </a:rPr>
              <a:t>Combine</a:t>
            </a:r>
            <a:r>
              <a:rPr lang="en-US" sz="1400" b="0" dirty="0">
                <a:solidFill>
                  <a:srgbClr val="52616B"/>
                </a:solidFill>
                <a:latin typeface="Aptos"/>
              </a:rPr>
              <a:t> observed hourly counts with a smoothed global hourly rate, to be fed into LSTM model.</a:t>
            </a:r>
            <a:endParaRPr sz="1400" b="0" dirty="0">
              <a:solidFill>
                <a:srgbClr val="52616B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0" y="2304288"/>
            <a:ext cx="411480" cy="22860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148840"/>
            <a:ext cx="502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D95D3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06040"/>
            <a:ext cx="2286000" cy="3693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dirty="0">
                <a:solidFill>
                  <a:srgbClr val="18334A"/>
                </a:solidFill>
                <a:latin typeface="Aptos"/>
              </a:rPr>
              <a:t>Sampl</a:t>
            </a:r>
            <a:r>
              <a:rPr lang="en-US" sz="1800" b="1" dirty="0">
                <a:solidFill>
                  <a:srgbClr val="18334A"/>
                </a:solidFill>
                <a:latin typeface="Aptos"/>
              </a:rPr>
              <a:t>ing</a:t>
            </a:r>
            <a:endParaRPr sz="1800" b="1" dirty="0">
              <a:solidFill>
                <a:srgbClr val="18334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3640" y="3154680"/>
            <a:ext cx="2148840" cy="1169551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lang="en-US" sz="1400" b="0" dirty="0">
                <a:solidFill>
                  <a:srgbClr val="52616B"/>
                </a:solidFill>
                <a:latin typeface="Aptos"/>
              </a:rPr>
              <a:t>The Sampling happens by dividin</a:t>
            </a:r>
            <a:r>
              <a:rPr lang="en-US" sz="1400" dirty="0">
                <a:solidFill>
                  <a:srgbClr val="52616B"/>
                </a:solidFill>
                <a:latin typeface="Aptos"/>
              </a:rPr>
              <a:t>g the active regions into samples of 24 hr. and then taking the features extracted from it.</a:t>
            </a:r>
            <a:endParaRPr sz="1400" b="0" dirty="0">
              <a:solidFill>
                <a:srgbClr val="52616B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03920" y="2304288"/>
            <a:ext cx="411480" cy="22860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59" y="2148840"/>
            <a:ext cx="502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D95D39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2606040"/>
            <a:ext cx="2286000" cy="3693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lang="en-US" sz="1800" b="1" dirty="0">
                <a:solidFill>
                  <a:srgbClr val="18334A"/>
                </a:solidFill>
                <a:latin typeface="Aptos"/>
              </a:rPr>
              <a:t>Publish</a:t>
            </a:r>
            <a:endParaRPr sz="1800" b="1" dirty="0">
              <a:solidFill>
                <a:srgbClr val="18334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52559" y="3154680"/>
            <a:ext cx="2148840" cy="1371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52616B"/>
                </a:solidFill>
                <a:latin typeface="Aptos"/>
              </a:rPr>
              <a:t>Publish probability, class, severity, and the full hourly 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D95D39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1">
                <a:solidFill>
                  <a:srgbClr val="52616B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10972800" cy="13716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8334A"/>
                </a:solidFill>
                <a:latin typeface="Aptos Display"/>
              </a:rPr>
              <a:t>A lightweight data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24128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 dirty="0" err="1">
                <a:solidFill>
                  <a:srgbClr val="52616B"/>
                </a:solidFill>
                <a:latin typeface="Aptos"/>
              </a:rPr>
              <a:t>Streamlit</a:t>
            </a:r>
            <a:r>
              <a:rPr sz="1300" b="0" dirty="0">
                <a:solidFill>
                  <a:srgbClr val="52616B"/>
                </a:solidFill>
                <a:latin typeface="Aptos"/>
              </a:rPr>
              <a:t> keeps the interface close to the data transformations, making the project easy to run and demonstrate locally.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73152" cy="201168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01167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External feeds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2011679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2616B"/>
                </a:solidFill>
                <a:latin typeface="Aptos"/>
              </a:rPr>
              <a:t>NOAA SWPC JSON
NASA DONKI
JSOC SHARP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2011680"/>
            <a:ext cx="73152" cy="201168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2212848"/>
            <a:ext cx="201167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Loaders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33472"/>
            <a:ext cx="2011679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2616B"/>
                </a:solidFill>
                <a:latin typeface="Aptos"/>
              </a:rPr>
              <a:t>HTTP retrieval
Schema normalization
UTC conversion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2011680"/>
            <a:ext cx="73152" cy="20116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212848"/>
            <a:ext cx="201167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33472"/>
            <a:ext cx="2011679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dirty="0">
                <a:solidFill>
                  <a:srgbClr val="52616B"/>
                </a:solidFill>
                <a:latin typeface="Aptos"/>
              </a:rPr>
              <a:t>Filtering
Resampling
Forecast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9720" y="2011680"/>
            <a:ext cx="73152" cy="2011680"/>
          </a:xfrm>
          <a:prstGeom prst="rect">
            <a:avLst/>
          </a:prstGeom>
          <a:solidFill>
            <a:srgbClr val="18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0" y="2212848"/>
            <a:ext cx="201167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633472"/>
            <a:ext cx="2011679" cy="12618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dirty="0">
                <a:solidFill>
                  <a:srgbClr val="52616B"/>
                </a:solidFill>
                <a:latin typeface="Aptos"/>
              </a:rPr>
              <a:t>Metrics
Charts
Tables
Warnings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1060704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 dirty="0">
                <a:solidFill>
                  <a:srgbClr val="18334A"/>
                </a:solidFill>
                <a:latin typeface="Aptos Display"/>
              </a:rPr>
              <a:t>Caching sits between feeds and the interface; authentication and session-level rate controls protect the interactive experience.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D95D39"/>
                </a:solidFill>
                <a:latin typeface="Aptos"/>
              </a:rP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1">
                <a:solidFill>
                  <a:srgbClr val="52616B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10972800" cy="13716"/>
          </a:xfrm>
          <a:prstGeom prst="rect">
            <a:avLst/>
          </a:prstGeom>
          <a:solidFill>
            <a:srgbClr val="EA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8334A"/>
                </a:solidFill>
                <a:latin typeface="Aptos Display"/>
              </a:rPr>
              <a:t>What the dashboard says - and what it does not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73306"/>
            <a:ext cx="5212080" cy="2423160"/>
          </a:xfrm>
          <a:prstGeom prst="roundRect">
            <a:avLst>
              <a:gd name="adj" fmla="val 1715"/>
            </a:avLst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773306"/>
            <a:ext cx="73152" cy="242316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74474"/>
            <a:ext cx="48006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 dirty="0">
                <a:solidFill>
                  <a:srgbClr val="18334A"/>
                </a:solidFill>
                <a:latin typeface="Aptos"/>
              </a:rPr>
              <a:t>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95098"/>
            <a:ext cx="4800600" cy="167335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dirty="0">
                <a:solidFill>
                  <a:srgbClr val="52616B"/>
                </a:solidFill>
                <a:latin typeface="Aptos"/>
              </a:rPr>
              <a:t>Show source-backed NOAA observations
Flag delayed feeds
Keep UTC visible
Expose the forecast table and 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56916"/>
            <a:ext cx="5212080" cy="2423160"/>
          </a:xfrm>
          <a:prstGeom prst="roundRect">
            <a:avLst>
              <a:gd name="adj" fmla="val 647"/>
            </a:avLst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97110" y="2756916"/>
            <a:ext cx="57970" cy="242316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958084"/>
            <a:ext cx="48006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It does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78708"/>
            <a:ext cx="4800600" cy="1246495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dirty="0">
                <a:solidFill>
                  <a:srgbClr val="52616B"/>
                </a:solidFill>
                <a:latin typeface="Aptos"/>
              </a:rPr>
              <a:t>Provide a complete CME catalog
Guarantee a live feed is current
Act as a production identity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943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914400"/>
            <a:ext cx="18288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D69E2E"/>
                </a:solidFill>
                <a:latin typeface="Apto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17320"/>
            <a:ext cx="6858000" cy="11430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A strong foundation
for deeper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71800"/>
            <a:ext cx="6583680" cy="1400383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0" dirty="0">
                <a:solidFill>
                  <a:srgbClr val="D9E7E5"/>
                </a:solidFill>
                <a:latin typeface="Aptos"/>
              </a:rPr>
              <a:t>The current dashboard makes live solar activity understandable.
The next research step is to connect SHARP active-region features
to a validated, evaluated forecasting model.</a:t>
            </a:r>
            <a:endParaRPr lang="en-US" sz="1700" b="0" dirty="0">
              <a:solidFill>
                <a:srgbClr val="D9E7E5"/>
              </a:solidFill>
              <a:latin typeface="Aptos"/>
            </a:endParaRPr>
          </a:p>
          <a:p>
            <a:pPr algn="l"/>
            <a:r>
              <a:rPr lang="en-IN" sz="1700" dirty="0">
                <a:solidFill>
                  <a:srgbClr val="D9E7E5"/>
                </a:solidFill>
                <a:latin typeface="Aptos"/>
              </a:rPr>
              <a:t>Since the unfortunate event of API getting depleted has resulted in the previous model being obsolete.</a:t>
            </a:r>
            <a:endParaRPr sz="1700" b="0" dirty="0">
              <a:solidFill>
                <a:srgbClr val="D9E7E5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150876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709928"/>
            <a:ext cx="25603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130552"/>
            <a:ext cx="2560320" cy="484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Readable live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06324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0" y="3063240"/>
            <a:ext cx="73152" cy="123444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3264408"/>
            <a:ext cx="25603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334A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685032"/>
            <a:ext cx="2560320" cy="4846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52616B"/>
                </a:solidFill>
                <a:latin typeface="Aptos"/>
              </a:rPr>
              <a:t>Validated feature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989320"/>
            <a:ext cx="59436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0">
                <a:solidFill>
                  <a:srgbClr val="B8DDD5"/>
                </a:solidFill>
                <a:latin typeface="Aptos"/>
              </a:rPr>
              <a:t>Solar Activity Dashboard  |  Project Exhibition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872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Akshat Mishra</cp:lastModifiedBy>
  <cp:revision>2</cp:revision>
  <dcterms:created xsi:type="dcterms:W3CDTF">2013-01-27T09:14:16Z</dcterms:created>
  <dcterms:modified xsi:type="dcterms:W3CDTF">2026-10-01T07:18:36Z</dcterms:modified>
  <cp:category/>
</cp:coreProperties>
</file>