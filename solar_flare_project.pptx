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1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E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88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8146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3038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7473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6712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0019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4425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6500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1644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0586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387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4951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250861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6881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47093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5856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08720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35475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515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3462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957" r:id="rId16"/>
    <p:sldLayoutId id="2147483958" r:id="rId17"/>
    <p:sldLayoutId id="2147483959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21491" y="395838"/>
            <a:ext cx="3116040" cy="3116040"/>
          </a:xfrm>
          <a:prstGeom prst="ellipse">
            <a:avLst/>
          </a:prstGeom>
          <a:solidFill>
            <a:srgbClr val="F2A65A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00881" y="852368"/>
            <a:ext cx="2157260" cy="2157260"/>
          </a:xfrm>
          <a:prstGeom prst="ellipse">
            <a:avLst/>
          </a:prstGeom>
          <a:solidFill>
            <a:srgbClr val="F2A65A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320349" y="1271836"/>
            <a:ext cx="1318324" cy="1318324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5029" y="240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WEATHER  ·  MACHINE LEARNING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5029" y="2659924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Flare &amp; CME Impact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90749" y="435156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pipeline for forecasting flare occurrence, CME arrival, and satellite risk</a:t>
            </a:r>
            <a:endParaRPr lang="en-US" sz="1600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29F6AEFD-E092-A376-04EB-04F77BD7DD26}"/>
              </a:ext>
            </a:extLst>
          </p:cNvPr>
          <p:cNvSpPr/>
          <p:nvPr/>
        </p:nvSpPr>
        <p:spPr>
          <a:xfrm>
            <a:off x="548640" y="320040"/>
            <a:ext cx="1129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14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objective &amp; scope</a:t>
            </a:r>
            <a:endParaRPr lang="en-US" sz="2700" dirty="0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077CBE26-D41F-BB25-A836-1FFE2DAC646C}"/>
              </a:ext>
            </a:extLst>
          </p:cNvPr>
          <p:cNvSpPr/>
          <p:nvPr/>
        </p:nvSpPr>
        <p:spPr>
          <a:xfrm>
            <a:off x="548640" y="1051560"/>
            <a:ext cx="3611880" cy="5349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D3186BCB-C59A-7EBC-B400-E7CC154CDDFE}"/>
              </a:ext>
            </a:extLst>
          </p:cNvPr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3010142C-F836-5C71-C2C7-2E88D2F50A38}"/>
              </a:ext>
            </a:extLst>
          </p:cNvPr>
          <p:cNvSpPr/>
          <p:nvPr/>
        </p:nvSpPr>
        <p:spPr>
          <a:xfrm>
            <a:off x="8229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E79B29F6-45B5-B53C-B91F-A6FF0037D62A}"/>
              </a:ext>
            </a:extLst>
          </p:cNvPr>
          <p:cNvSpPr/>
          <p:nvPr/>
        </p:nvSpPr>
        <p:spPr>
          <a:xfrm>
            <a:off x="1417320" y="13075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50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92C09DEB-F326-B142-FD0A-4B644AE4AA2C}"/>
              </a:ext>
            </a:extLst>
          </p:cNvPr>
          <p:cNvSpPr/>
          <p:nvPr/>
        </p:nvSpPr>
        <p:spPr>
          <a:xfrm>
            <a:off x="822960" y="1920240"/>
            <a:ext cx="306324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0C03299F-30C6-552D-FCF6-6AF41A5DF44D}"/>
              </a:ext>
            </a:extLst>
          </p:cNvPr>
          <p:cNvSpPr/>
          <p:nvPr/>
        </p:nvSpPr>
        <p:spPr>
          <a:xfrm>
            <a:off x="822960" y="2103120"/>
            <a:ext cx="30632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Flares and CMEs disrupt satellite electronics, GPS accuracy, HF radio and power grids</a:t>
            </a:r>
            <a:endParaRPr lang="en-US" sz="113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2022: a moderate geomagnetic storm caused SpaceX to lose 40 newly-launched Starlink satellites</a:t>
            </a:r>
            <a:endParaRPr lang="en-US" sz="113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image analysis is still largely manual, limiting forecast speed and granularity</a:t>
            </a:r>
            <a:endParaRPr lang="en-US" sz="1130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0BE894E4-993A-7CF7-3718-B0018ED5E87F}"/>
              </a:ext>
            </a:extLst>
          </p:cNvPr>
          <p:cNvSpPr/>
          <p:nvPr/>
        </p:nvSpPr>
        <p:spPr>
          <a:xfrm>
            <a:off x="4389120" y="1051560"/>
            <a:ext cx="3611880" cy="5349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632FE9F6-BF03-D49C-E5C2-4834DB2C04DF}"/>
              </a:ext>
            </a:extLst>
          </p:cNvPr>
          <p:cNvSpPr/>
          <p:nvPr/>
        </p:nvSpPr>
        <p:spPr>
          <a:xfrm>
            <a:off x="4663440" y="132588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4D9CE756-0340-1B00-266F-B855A9827CAC}"/>
              </a:ext>
            </a:extLst>
          </p:cNvPr>
          <p:cNvSpPr/>
          <p:nvPr/>
        </p:nvSpPr>
        <p:spPr>
          <a:xfrm>
            <a:off x="46634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6253B7E1-C492-4C25-2A79-3BDEF70FE44A}"/>
              </a:ext>
            </a:extLst>
          </p:cNvPr>
          <p:cNvSpPr/>
          <p:nvPr/>
        </p:nvSpPr>
        <p:spPr>
          <a:xfrm>
            <a:off x="5257800" y="13075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50" dirty="0"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E7C7B58F-5B57-FD2D-251D-7D59489CCC79}"/>
              </a:ext>
            </a:extLst>
          </p:cNvPr>
          <p:cNvSpPr/>
          <p:nvPr/>
        </p:nvSpPr>
        <p:spPr>
          <a:xfrm>
            <a:off x="4663440" y="1920240"/>
            <a:ext cx="306324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747E4E98-F16F-8732-037A-BB54BF2BEBB9}"/>
              </a:ext>
            </a:extLst>
          </p:cNvPr>
          <p:cNvSpPr/>
          <p:nvPr/>
        </p:nvSpPr>
        <p:spPr>
          <a:xfrm>
            <a:off x="4663440" y="2103120"/>
            <a:ext cx="30632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flare occurrence and magnitude from SHARP magnetic-field features</a:t>
            </a:r>
            <a:endParaRPr lang="en-US" sz="113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CME launch speed, direction, and Earth arrival time</a:t>
            </a:r>
            <a:endParaRPr lang="en-US" sz="113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geomagnetic storm severity (Kp / Dst index) from solar wind data</a:t>
            </a:r>
            <a:endParaRPr lang="en-US" sz="113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predicted risk onto specific satellite orbits via a live dashboard</a:t>
            </a:r>
            <a:endParaRPr lang="en-US" sz="1130" dirty="0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D690E53A-B5B9-EF93-3D0F-88CAC143DDA8}"/>
              </a:ext>
            </a:extLst>
          </p:cNvPr>
          <p:cNvSpPr/>
          <p:nvPr/>
        </p:nvSpPr>
        <p:spPr>
          <a:xfrm>
            <a:off x="8229600" y="1051560"/>
            <a:ext cx="3611880" cy="5349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FFB0F8DC-7B11-C8F0-29F5-8C249E7D8414}"/>
              </a:ext>
            </a:extLst>
          </p:cNvPr>
          <p:cNvSpPr/>
          <p:nvPr/>
        </p:nvSpPr>
        <p:spPr>
          <a:xfrm>
            <a:off x="8503920" y="1325880"/>
            <a:ext cx="457200" cy="457200"/>
          </a:xfrm>
          <a:prstGeom prst="ellipse">
            <a:avLst/>
          </a:prstGeom>
          <a:solidFill>
            <a:srgbClr val="162154"/>
          </a:solidFill>
          <a:ln/>
        </p:spPr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8DDDF350-F1C7-114E-B208-F672B4787D4D}"/>
              </a:ext>
            </a:extLst>
          </p:cNvPr>
          <p:cNvSpPr/>
          <p:nvPr/>
        </p:nvSpPr>
        <p:spPr>
          <a:xfrm>
            <a:off x="85039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854C245D-E889-A4A6-2AAD-D22AA23A27BA}"/>
              </a:ext>
            </a:extLst>
          </p:cNvPr>
          <p:cNvSpPr/>
          <p:nvPr/>
        </p:nvSpPr>
        <p:spPr>
          <a:xfrm>
            <a:off x="9098280" y="13075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650" dirty="0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17950124-FD7F-96E4-E21F-85FFD008356E}"/>
              </a:ext>
            </a:extLst>
          </p:cNvPr>
          <p:cNvSpPr/>
          <p:nvPr/>
        </p:nvSpPr>
        <p:spPr>
          <a:xfrm>
            <a:off x="8503920" y="1920240"/>
            <a:ext cx="306324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9E47328A-460B-619E-DC54-FD28EB2FFAD5}"/>
              </a:ext>
            </a:extLst>
          </p:cNvPr>
          <p:cNvSpPr/>
          <p:nvPr/>
        </p:nvSpPr>
        <p:spPr>
          <a:xfrm>
            <a:off x="8503920" y="2103120"/>
            <a:ext cx="30632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SHARP, GOES, DONKI and DSCOVR/ACE data - 3 prediction models - API + 3D UI</a:t>
            </a:r>
            <a:endParaRPr lang="en-US" sz="113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historical validation against past flare/CME/storm events</a:t>
            </a:r>
            <a:endParaRPr lang="en-US" sz="113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automated satellite safe-mode control or hardware actuation</a:t>
            </a:r>
            <a:endParaRPr lang="en-US" sz="113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sub-minute-precision flare trigger timing (open research problem)</a:t>
            </a:r>
            <a:endParaRPr lang="en-US" sz="113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4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 requirements</a:t>
            </a:r>
            <a:endParaRPr lang="en-US" sz="3000" dirty="0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17B3CAC5-5C2B-4E97-3AD0-03EB099BD93E}"/>
              </a:ext>
            </a:extLst>
          </p:cNvPr>
          <p:cNvSpPr/>
          <p:nvPr/>
        </p:nvSpPr>
        <p:spPr>
          <a:xfrm>
            <a:off x="548640" y="1051560"/>
            <a:ext cx="5349240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0F798F4D-9A2C-126C-60D7-79158DB0BDEB}"/>
              </a:ext>
            </a:extLst>
          </p:cNvPr>
          <p:cNvSpPr/>
          <p:nvPr/>
        </p:nvSpPr>
        <p:spPr>
          <a:xfrm>
            <a:off x="868680" y="13075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9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A8905726-B90F-26FB-FB34-6EFA2CF34772}"/>
              </a:ext>
            </a:extLst>
          </p:cNvPr>
          <p:cNvSpPr/>
          <p:nvPr/>
        </p:nvSpPr>
        <p:spPr>
          <a:xfrm>
            <a:off x="868680" y="1737360"/>
            <a:ext cx="470916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5E5EB334-E57C-7D17-E12C-708566BCC1C7}"/>
              </a:ext>
            </a:extLst>
          </p:cNvPr>
          <p:cNvSpPr/>
          <p:nvPr/>
        </p:nvSpPr>
        <p:spPr>
          <a:xfrm>
            <a:off x="868680" y="1920240"/>
            <a:ext cx="365760" cy="3657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F14B57E7-8D73-0289-9154-4CBABC9F827E}"/>
              </a:ext>
            </a:extLst>
          </p:cNvPr>
          <p:cNvSpPr/>
          <p:nvPr/>
        </p:nvSpPr>
        <p:spPr>
          <a:xfrm>
            <a:off x="8686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0A646ADF-DF2F-2EAF-6D78-169CD71676DB}"/>
              </a:ext>
            </a:extLst>
          </p:cNvPr>
          <p:cNvSpPr/>
          <p:nvPr/>
        </p:nvSpPr>
        <p:spPr>
          <a:xfrm>
            <a:off x="1371600" y="18928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workstation</a:t>
            </a:r>
            <a:endParaRPr lang="en-US" sz="1250" dirty="0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7D4D799F-8ED7-BA7F-4DF1-636315CDB7A4}"/>
              </a:ext>
            </a:extLst>
          </p:cNvPr>
          <p:cNvSpPr/>
          <p:nvPr/>
        </p:nvSpPr>
        <p:spPr>
          <a:xfrm>
            <a:off x="1371600" y="21762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GPU, 8GB+ VRAM, 16GB+ RAM — or an equivalent AWS / GCP / Azure GPU instance</a:t>
            </a:r>
            <a:endParaRPr lang="en-US" sz="1080" dirty="0"/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F72D555A-CC2F-2E82-4D36-7C03050C9154}"/>
              </a:ext>
            </a:extLst>
          </p:cNvPr>
          <p:cNvSpPr/>
          <p:nvPr/>
        </p:nvSpPr>
        <p:spPr>
          <a:xfrm>
            <a:off x="868680" y="2999232"/>
            <a:ext cx="365760" cy="3657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F6AA40DC-2448-F9B6-A03B-813F7D9DF955}"/>
              </a:ext>
            </a:extLst>
          </p:cNvPr>
          <p:cNvSpPr/>
          <p:nvPr/>
        </p:nvSpPr>
        <p:spPr>
          <a:xfrm>
            <a:off x="86868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08672154-6E67-6AF0-1CD4-A90B9F9563A5}"/>
              </a:ext>
            </a:extLst>
          </p:cNvPr>
          <p:cNvSpPr/>
          <p:nvPr/>
        </p:nvSpPr>
        <p:spPr>
          <a:xfrm>
            <a:off x="1371600" y="29718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</a:t>
            </a:r>
            <a:endParaRPr lang="en-US" sz="1250" dirty="0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DE44D8A4-9D6F-459B-5325-BF9392C8E658}"/>
              </a:ext>
            </a:extLst>
          </p:cNvPr>
          <p:cNvSpPr/>
          <p:nvPr/>
        </p:nvSpPr>
        <p:spPr>
          <a:xfrm>
            <a:off x="1371600" y="325526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cloud VM, 4 vCPU / 8–16GB RAM, for the inference service and API</a:t>
            </a:r>
            <a:endParaRPr lang="en-US" sz="1080" dirty="0"/>
          </a:p>
        </p:txBody>
      </p:sp>
      <p:sp>
        <p:nvSpPr>
          <p:cNvPr id="54" name="Shape 12">
            <a:extLst>
              <a:ext uri="{FF2B5EF4-FFF2-40B4-BE49-F238E27FC236}">
                <a16:creationId xmlns:a16="http://schemas.microsoft.com/office/drawing/2014/main" id="{A0EE8FEB-420E-C9C8-6F29-050F4CA51427}"/>
              </a:ext>
            </a:extLst>
          </p:cNvPr>
          <p:cNvSpPr/>
          <p:nvPr/>
        </p:nvSpPr>
        <p:spPr>
          <a:xfrm>
            <a:off x="868680" y="4078224"/>
            <a:ext cx="365760" cy="3657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5CA5E9B1-DC8F-A220-B27A-0203D3236046}"/>
              </a:ext>
            </a:extLst>
          </p:cNvPr>
          <p:cNvSpPr/>
          <p:nvPr/>
        </p:nvSpPr>
        <p:spPr>
          <a:xfrm>
            <a:off x="86868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7C5DD2BE-24A3-EA12-6AC4-F2983B190DB5}"/>
              </a:ext>
            </a:extLst>
          </p:cNvPr>
          <p:cNvSpPr/>
          <p:nvPr/>
        </p:nvSpPr>
        <p:spPr>
          <a:xfrm>
            <a:off x="1371600" y="40507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7975B650-C73C-7F9F-F970-3B75E07A80D1}"/>
              </a:ext>
            </a:extLst>
          </p:cNvPr>
          <p:cNvSpPr/>
          <p:nvPr/>
        </p:nvSpPr>
        <p:spPr>
          <a:xfrm>
            <a:off x="1371600" y="433425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GB for multi-year SHARP, GOES and DONKI historical archives</a:t>
            </a:r>
            <a:endParaRPr lang="en-US" sz="1080" dirty="0"/>
          </a:p>
        </p:txBody>
      </p:sp>
      <p:sp>
        <p:nvSpPr>
          <p:cNvPr id="62" name="Shape 16">
            <a:extLst>
              <a:ext uri="{FF2B5EF4-FFF2-40B4-BE49-F238E27FC236}">
                <a16:creationId xmlns:a16="http://schemas.microsoft.com/office/drawing/2014/main" id="{CD3D0B7D-09B7-A857-B171-8F18CF532F99}"/>
              </a:ext>
            </a:extLst>
          </p:cNvPr>
          <p:cNvSpPr/>
          <p:nvPr/>
        </p:nvSpPr>
        <p:spPr>
          <a:xfrm>
            <a:off x="868680" y="5157216"/>
            <a:ext cx="365760" cy="3657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83E74505-4AB0-93D6-95B4-5DA77946133C}"/>
              </a:ext>
            </a:extLst>
          </p:cNvPr>
          <p:cNvSpPr/>
          <p:nvPr/>
        </p:nvSpPr>
        <p:spPr>
          <a:xfrm>
            <a:off x="86868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76900E25-E05D-ECDA-034D-A9B2AEB38E32}"/>
              </a:ext>
            </a:extLst>
          </p:cNvPr>
          <p:cNvSpPr/>
          <p:nvPr/>
        </p:nvSpPr>
        <p:spPr>
          <a:xfrm>
            <a:off x="1371600" y="51297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</p:txBody>
      </p:sp>
      <p:sp>
        <p:nvSpPr>
          <p:cNvPr id="68" name="Text 19">
            <a:extLst>
              <a:ext uri="{FF2B5EF4-FFF2-40B4-BE49-F238E27FC236}">
                <a16:creationId xmlns:a16="http://schemas.microsoft.com/office/drawing/2014/main" id="{6F922ABE-4C3D-140C-7A0D-84343D1AAEE5}"/>
              </a:ext>
            </a:extLst>
          </p:cNvPr>
          <p:cNvSpPr/>
          <p:nvPr/>
        </p:nvSpPr>
        <p:spPr>
          <a:xfrm>
            <a:off x="1371600" y="541324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low-latency connection for 1-minute DSCOVR/ACE polling and WebSocket streaming</a:t>
            </a:r>
            <a:endParaRPr lang="en-US" sz="1080" dirty="0"/>
          </a:p>
        </p:txBody>
      </p:sp>
      <p:sp>
        <p:nvSpPr>
          <p:cNvPr id="70" name="Shape 20">
            <a:extLst>
              <a:ext uri="{FF2B5EF4-FFF2-40B4-BE49-F238E27FC236}">
                <a16:creationId xmlns:a16="http://schemas.microsoft.com/office/drawing/2014/main" id="{C776DF95-0245-097D-0D82-FB5DBFD768D0}"/>
              </a:ext>
            </a:extLst>
          </p:cNvPr>
          <p:cNvSpPr/>
          <p:nvPr/>
        </p:nvSpPr>
        <p:spPr>
          <a:xfrm>
            <a:off x="6126480" y="1051560"/>
            <a:ext cx="5349240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Text 21">
            <a:extLst>
              <a:ext uri="{FF2B5EF4-FFF2-40B4-BE49-F238E27FC236}">
                <a16:creationId xmlns:a16="http://schemas.microsoft.com/office/drawing/2014/main" id="{D72A94A3-F218-D95E-63FA-502515326578}"/>
              </a:ext>
            </a:extLst>
          </p:cNvPr>
          <p:cNvSpPr/>
          <p:nvPr/>
        </p:nvSpPr>
        <p:spPr>
          <a:xfrm>
            <a:off x="6446520" y="13075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900" dirty="0"/>
          </a:p>
        </p:txBody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4941D89A-AE05-3B12-6843-6A2F75BB56AA}"/>
              </a:ext>
            </a:extLst>
          </p:cNvPr>
          <p:cNvSpPr/>
          <p:nvPr/>
        </p:nvSpPr>
        <p:spPr>
          <a:xfrm>
            <a:off x="6446520" y="1737360"/>
            <a:ext cx="470916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76" name="Shape 23">
            <a:extLst>
              <a:ext uri="{FF2B5EF4-FFF2-40B4-BE49-F238E27FC236}">
                <a16:creationId xmlns:a16="http://schemas.microsoft.com/office/drawing/2014/main" id="{017BDA1A-56FA-7D72-FA41-3133BAB0C876}"/>
              </a:ext>
            </a:extLst>
          </p:cNvPr>
          <p:cNvSpPr/>
          <p:nvPr/>
        </p:nvSpPr>
        <p:spPr>
          <a:xfrm>
            <a:off x="6446520" y="192024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8" name="Text 24">
            <a:extLst>
              <a:ext uri="{FF2B5EF4-FFF2-40B4-BE49-F238E27FC236}">
                <a16:creationId xmlns:a16="http://schemas.microsoft.com/office/drawing/2014/main" id="{576AB7E9-2BF5-EC33-B996-8F2C0A079D6A}"/>
              </a:ext>
            </a:extLst>
          </p:cNvPr>
          <p:cNvSpPr/>
          <p:nvPr/>
        </p:nvSpPr>
        <p:spPr>
          <a:xfrm>
            <a:off x="64465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0" name="Text 25">
            <a:extLst>
              <a:ext uri="{FF2B5EF4-FFF2-40B4-BE49-F238E27FC236}">
                <a16:creationId xmlns:a16="http://schemas.microsoft.com/office/drawing/2014/main" id="{A3E04CD2-6BB6-C713-CD0A-1743B8142B6F}"/>
              </a:ext>
            </a:extLst>
          </p:cNvPr>
          <p:cNvSpPr/>
          <p:nvPr/>
        </p:nvSpPr>
        <p:spPr>
          <a:xfrm>
            <a:off x="6949440" y="1892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modeling</a:t>
            </a:r>
            <a:endParaRPr lang="en-US" sz="1250" dirty="0"/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53AA7E4B-DBA7-5589-3D60-5AF7A14A0E92}"/>
              </a:ext>
            </a:extLst>
          </p:cNvPr>
          <p:cNvSpPr/>
          <p:nvPr/>
        </p:nvSpPr>
        <p:spPr>
          <a:xfrm>
            <a:off x="6949440" y="21762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3.10+, drms, pandas, PyTorch / TensorFlow, scikit-learn</a:t>
            </a:r>
            <a:endParaRPr lang="en-US" sz="1080" dirty="0"/>
          </a:p>
        </p:txBody>
      </p:sp>
      <p:sp>
        <p:nvSpPr>
          <p:cNvPr id="84" name="Shape 27">
            <a:extLst>
              <a:ext uri="{FF2B5EF4-FFF2-40B4-BE49-F238E27FC236}">
                <a16:creationId xmlns:a16="http://schemas.microsoft.com/office/drawing/2014/main" id="{595D8FEE-9858-ED7C-ABD8-4280AAB21E28}"/>
              </a:ext>
            </a:extLst>
          </p:cNvPr>
          <p:cNvSpPr/>
          <p:nvPr/>
        </p:nvSpPr>
        <p:spPr>
          <a:xfrm>
            <a:off x="6446520" y="2999232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86" name="Text 28">
            <a:extLst>
              <a:ext uri="{FF2B5EF4-FFF2-40B4-BE49-F238E27FC236}">
                <a16:creationId xmlns:a16="http://schemas.microsoft.com/office/drawing/2014/main" id="{B2B72B72-9DB9-A98C-472F-1B86DEDA8BF3}"/>
              </a:ext>
            </a:extLst>
          </p:cNvPr>
          <p:cNvSpPr/>
          <p:nvPr/>
        </p:nvSpPr>
        <p:spPr>
          <a:xfrm>
            <a:off x="644652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8" name="Text 29">
            <a:extLst>
              <a:ext uri="{FF2B5EF4-FFF2-40B4-BE49-F238E27FC236}">
                <a16:creationId xmlns:a16="http://schemas.microsoft.com/office/drawing/2014/main" id="{1F2C077C-B490-01E5-46A3-D410AAC677E3}"/>
              </a:ext>
            </a:extLst>
          </p:cNvPr>
          <p:cNvSpPr/>
          <p:nvPr/>
        </p:nvSpPr>
        <p:spPr>
          <a:xfrm>
            <a:off x="6949440" y="2971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250" dirty="0"/>
          </a:p>
        </p:txBody>
      </p:sp>
      <p:sp>
        <p:nvSpPr>
          <p:cNvPr id="90" name="Text 30">
            <a:extLst>
              <a:ext uri="{FF2B5EF4-FFF2-40B4-BE49-F238E27FC236}">
                <a16:creationId xmlns:a16="http://schemas.microsoft.com/office/drawing/2014/main" id="{E9ABEA56-65D7-AD2C-78AB-E2FB83221CFE}"/>
              </a:ext>
            </a:extLst>
          </p:cNvPr>
          <p:cNvSpPr/>
          <p:nvPr/>
        </p:nvSpPr>
        <p:spPr>
          <a:xfrm>
            <a:off x="6949440" y="32552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JSOC (SHARP), NASA DONKI (flare/CME), NOAA SWPC (solar wind, Kp/Dst)</a:t>
            </a:r>
            <a:endParaRPr lang="en-US" sz="1080" dirty="0"/>
          </a:p>
        </p:txBody>
      </p:sp>
      <p:sp>
        <p:nvSpPr>
          <p:cNvPr id="92" name="Shape 31">
            <a:extLst>
              <a:ext uri="{FF2B5EF4-FFF2-40B4-BE49-F238E27FC236}">
                <a16:creationId xmlns:a16="http://schemas.microsoft.com/office/drawing/2014/main" id="{2B5B21DF-A075-0E49-E8D4-689F4F1417D8}"/>
              </a:ext>
            </a:extLst>
          </p:cNvPr>
          <p:cNvSpPr/>
          <p:nvPr/>
        </p:nvSpPr>
        <p:spPr>
          <a:xfrm>
            <a:off x="6446520" y="4078224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4" name="Text 32">
            <a:extLst>
              <a:ext uri="{FF2B5EF4-FFF2-40B4-BE49-F238E27FC236}">
                <a16:creationId xmlns:a16="http://schemas.microsoft.com/office/drawing/2014/main" id="{0563FE22-D1AA-5011-9108-461C54FB76E8}"/>
              </a:ext>
            </a:extLst>
          </p:cNvPr>
          <p:cNvSpPr/>
          <p:nvPr/>
        </p:nvSpPr>
        <p:spPr>
          <a:xfrm>
            <a:off x="644652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6" name="Text 33">
            <a:extLst>
              <a:ext uri="{FF2B5EF4-FFF2-40B4-BE49-F238E27FC236}">
                <a16:creationId xmlns:a16="http://schemas.microsoft.com/office/drawing/2014/main" id="{E6F1A948-8B6E-DCFE-60A2-12F1943F16F3}"/>
              </a:ext>
            </a:extLst>
          </p:cNvPr>
          <p:cNvSpPr/>
          <p:nvPr/>
        </p:nvSpPr>
        <p:spPr>
          <a:xfrm>
            <a:off x="6949440" y="4050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98" name="Text 34">
            <a:extLst>
              <a:ext uri="{FF2B5EF4-FFF2-40B4-BE49-F238E27FC236}">
                <a16:creationId xmlns:a16="http://schemas.microsoft.com/office/drawing/2014/main" id="{3CC14AFF-5255-9288-DCAA-CE9E790975CB}"/>
              </a:ext>
            </a:extLst>
          </p:cNvPr>
          <p:cNvSpPr/>
          <p:nvPr/>
        </p:nvSpPr>
        <p:spPr>
          <a:xfrm>
            <a:off x="6949440" y="43342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inference service, Redis cache, TimescaleDB / PostgreSQL</a:t>
            </a:r>
            <a:endParaRPr lang="en-US" sz="1080" dirty="0"/>
          </a:p>
        </p:txBody>
      </p:sp>
      <p:sp>
        <p:nvSpPr>
          <p:cNvPr id="100" name="Shape 35">
            <a:extLst>
              <a:ext uri="{FF2B5EF4-FFF2-40B4-BE49-F238E27FC236}">
                <a16:creationId xmlns:a16="http://schemas.microsoft.com/office/drawing/2014/main" id="{151F4858-0D32-7795-D24D-D9E14E618EFD}"/>
              </a:ext>
            </a:extLst>
          </p:cNvPr>
          <p:cNvSpPr/>
          <p:nvPr/>
        </p:nvSpPr>
        <p:spPr>
          <a:xfrm>
            <a:off x="6446520" y="5157216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2" name="Text 36">
            <a:extLst>
              <a:ext uri="{FF2B5EF4-FFF2-40B4-BE49-F238E27FC236}">
                <a16:creationId xmlns:a16="http://schemas.microsoft.com/office/drawing/2014/main" id="{485D75E1-DDB1-E221-1C1C-5F47541E98C7}"/>
              </a:ext>
            </a:extLst>
          </p:cNvPr>
          <p:cNvSpPr/>
          <p:nvPr/>
        </p:nvSpPr>
        <p:spPr>
          <a:xfrm>
            <a:off x="644652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4" name="Text 37">
            <a:extLst>
              <a:ext uri="{FF2B5EF4-FFF2-40B4-BE49-F238E27FC236}">
                <a16:creationId xmlns:a16="http://schemas.microsoft.com/office/drawing/2014/main" id="{9593263E-067C-0937-A84E-9400AEB5B774}"/>
              </a:ext>
            </a:extLst>
          </p:cNvPr>
          <p:cNvSpPr/>
          <p:nvPr/>
        </p:nvSpPr>
        <p:spPr>
          <a:xfrm>
            <a:off x="6949440" y="51297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ops</a:t>
            </a:r>
            <a:endParaRPr lang="en-US" sz="1250" dirty="0"/>
          </a:p>
        </p:txBody>
      </p:sp>
      <p:sp>
        <p:nvSpPr>
          <p:cNvPr id="106" name="Text 38">
            <a:extLst>
              <a:ext uri="{FF2B5EF4-FFF2-40B4-BE49-F238E27FC236}">
                <a16:creationId xmlns:a16="http://schemas.microsoft.com/office/drawing/2014/main" id="{3BDE85C5-37AA-DDD5-A0B5-07E11B1382D9}"/>
              </a:ext>
            </a:extLst>
          </p:cNvPr>
          <p:cNvSpPr/>
          <p:nvPr/>
        </p:nvSpPr>
        <p:spPr>
          <a:xfrm>
            <a:off x="6949440" y="5413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+ WebSocket live dashboard; Docker, docker-compose and Git for deployment</a:t>
            </a:r>
            <a:endParaRPr lang="en-US" sz="10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853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4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project timeline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Indicative timeline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" y="4389120"/>
            <a:ext cx="10698480" cy="0"/>
          </a:xfrm>
          <a:prstGeom prst="line">
            <a:avLst/>
          </a:prstGeom>
          <a:noFill/>
          <a:ln w="25400">
            <a:solidFill>
              <a:srgbClr val="D8D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49224" y="4306824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" y="4544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23844" y="4306824"/>
            <a:ext cx="164592" cy="164592"/>
          </a:xfrm>
          <a:prstGeom prst="ellipse">
            <a:avLst/>
          </a:prstGeom>
          <a:solidFill>
            <a:srgbClr val="1621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720340" y="4544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2-3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98464" y="4306824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394960" y="4544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4-5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673084" y="4306824"/>
            <a:ext cx="164592" cy="164592"/>
          </a:xfrm>
          <a:prstGeom prst="ellipse">
            <a:avLst/>
          </a:prstGeom>
          <a:solidFill>
            <a:srgbClr val="1621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069580" y="4544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1347704" y="4306824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0744200" y="4544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</a:t>
            </a:r>
            <a:endParaRPr lang="en-US" sz="1050" dirty="0"/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DE22B7D0-0B5D-2DE2-B6B5-6F2F02C90A1B}"/>
              </a:ext>
            </a:extLst>
          </p:cNvPr>
          <p:cNvSpPr/>
          <p:nvPr/>
        </p:nvSpPr>
        <p:spPr>
          <a:xfrm>
            <a:off x="457200" y="1234440"/>
            <a:ext cx="2148840" cy="23317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5B4B8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0A9F56F7-F154-EE3F-558F-72AC1E6D170D}"/>
              </a:ext>
            </a:extLst>
          </p:cNvPr>
          <p:cNvSpPr/>
          <p:nvPr/>
        </p:nvSpPr>
        <p:spPr>
          <a:xfrm>
            <a:off x="1348740" y="960120"/>
            <a:ext cx="365760" cy="3657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A1A4776D-347E-9A4C-6638-DBA8D43C3E89}"/>
              </a:ext>
            </a:extLst>
          </p:cNvPr>
          <p:cNvSpPr/>
          <p:nvPr/>
        </p:nvSpPr>
        <p:spPr>
          <a:xfrm>
            <a:off x="13487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E9CBC0B6-6C66-FD48-B6A0-AD5A6B704B1D}"/>
              </a:ext>
            </a:extLst>
          </p:cNvPr>
          <p:cNvSpPr/>
          <p:nvPr/>
        </p:nvSpPr>
        <p:spPr>
          <a:xfrm>
            <a:off x="594360" y="13624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50" dirty="0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E092C8A8-2B08-8F11-C3C0-D5883AD4AFDF}"/>
              </a:ext>
            </a:extLst>
          </p:cNvPr>
          <p:cNvSpPr/>
          <p:nvPr/>
        </p:nvSpPr>
        <p:spPr>
          <a:xfrm>
            <a:off x="594360" y="1709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· GOES · DONKI</a:t>
            </a:r>
            <a:endParaRPr lang="en-US" sz="90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1F8E0167-AFC9-946A-51BE-BDB86E8878D4}"/>
              </a:ext>
            </a:extLst>
          </p:cNvPr>
          <p:cNvSpPr/>
          <p:nvPr/>
        </p:nvSpPr>
        <p:spPr>
          <a:xfrm>
            <a:off x="640080" y="207568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magnetic features</a:t>
            </a:r>
            <a:endParaRPr lang="en-US" sz="900" dirty="0"/>
          </a:p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flare magnitude</a:t>
            </a:r>
            <a:endParaRPr lang="en-US" sz="900" dirty="0"/>
          </a:p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DONKI CME linkage</a:t>
            </a:r>
            <a:endParaRPr lang="en-US" sz="900" dirty="0"/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B933F147-7203-4483-3CB4-0052E57752EE}"/>
              </a:ext>
            </a:extLst>
          </p:cNvPr>
          <p:cNvSpPr/>
          <p:nvPr/>
        </p:nvSpPr>
        <p:spPr>
          <a:xfrm>
            <a:off x="594360" y="3273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 / real-time / daily</a:t>
            </a:r>
            <a:endParaRPr lang="en-US" sz="850" dirty="0"/>
          </a:p>
        </p:txBody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D7F7A806-6C2A-0DF7-0C52-3DFEC6FF5656}"/>
              </a:ext>
            </a:extLst>
          </p:cNvPr>
          <p:cNvSpPr/>
          <p:nvPr/>
        </p:nvSpPr>
        <p:spPr>
          <a:xfrm>
            <a:off x="2606040" y="2400300"/>
            <a:ext cx="146304" cy="0"/>
          </a:xfrm>
          <a:prstGeom prst="line">
            <a:avLst/>
          </a:prstGeom>
          <a:noFill/>
          <a:ln w="19050">
            <a:solidFill>
              <a:srgbClr val="B9B4CE"/>
            </a:solidFill>
            <a:prstDash val="solid"/>
            <a:tailEnd type="triangle"/>
          </a:ln>
        </p:spPr>
      </p:sp>
      <p:sp>
        <p:nvSpPr>
          <p:cNvPr id="61" name="Shape 9">
            <a:extLst>
              <a:ext uri="{FF2B5EF4-FFF2-40B4-BE49-F238E27FC236}">
                <a16:creationId xmlns:a16="http://schemas.microsoft.com/office/drawing/2014/main" id="{3F067F03-C8A9-7563-8854-F5C86592033B}"/>
              </a:ext>
            </a:extLst>
          </p:cNvPr>
          <p:cNvSpPr/>
          <p:nvPr/>
        </p:nvSpPr>
        <p:spPr>
          <a:xfrm>
            <a:off x="2752344" y="1234440"/>
            <a:ext cx="2148840" cy="23317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16215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ACE59149-9881-D624-1ADA-446FDF611D22}"/>
              </a:ext>
            </a:extLst>
          </p:cNvPr>
          <p:cNvSpPr/>
          <p:nvPr/>
        </p:nvSpPr>
        <p:spPr>
          <a:xfrm>
            <a:off x="3643884" y="960120"/>
            <a:ext cx="365760" cy="365760"/>
          </a:xfrm>
          <a:prstGeom prst="ellipse">
            <a:avLst/>
          </a:prstGeom>
          <a:solidFill>
            <a:srgbClr val="162154"/>
          </a:solidFill>
          <a:ln/>
        </p:spPr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98F9542D-B7AA-6054-21A8-C59EBB4BA85C}"/>
              </a:ext>
            </a:extLst>
          </p:cNvPr>
          <p:cNvSpPr/>
          <p:nvPr/>
        </p:nvSpPr>
        <p:spPr>
          <a:xfrm>
            <a:off x="3643884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00255B65-A5DF-9C82-214F-1331F71E91D7}"/>
              </a:ext>
            </a:extLst>
          </p:cNvPr>
          <p:cNvSpPr/>
          <p:nvPr/>
        </p:nvSpPr>
        <p:spPr>
          <a:xfrm>
            <a:off x="2889504" y="13624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FDB036F3-42C3-CE63-7DFC-116EE761718F}"/>
              </a:ext>
            </a:extLst>
          </p:cNvPr>
          <p:cNvSpPr/>
          <p:nvPr/>
        </p:nvSpPr>
        <p:spPr>
          <a:xfrm>
            <a:off x="2889504" y="1709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D9A69095-CEA1-64ED-8C3E-9DB7F2386026}"/>
              </a:ext>
            </a:extLst>
          </p:cNvPr>
          <p:cNvSpPr/>
          <p:nvPr/>
        </p:nvSpPr>
        <p:spPr>
          <a:xfrm>
            <a:off x="2935224" y="207568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 NOAA_AR + time</a:t>
            </a:r>
            <a:endParaRPr lang="en-US" sz="900" dirty="0"/>
          </a:p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900" dirty="0"/>
          </a:p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window</a:t>
            </a:r>
            <a:endParaRPr lang="en-US" sz="900" dirty="0"/>
          </a:p>
        </p:txBody>
      </p:sp>
      <p:sp>
        <p:nvSpPr>
          <p:cNvPr id="73" name="Text 15">
            <a:extLst>
              <a:ext uri="{FF2B5EF4-FFF2-40B4-BE49-F238E27FC236}">
                <a16:creationId xmlns:a16="http://schemas.microsoft.com/office/drawing/2014/main" id="{4AB8E9C2-0AC9-EECE-32F8-49F3876481F9}"/>
              </a:ext>
            </a:extLst>
          </p:cNvPr>
          <p:cNvSpPr/>
          <p:nvPr/>
        </p:nvSpPr>
        <p:spPr>
          <a:xfrm>
            <a:off x="2889504" y="3273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new data</a:t>
            </a:r>
            <a:endParaRPr lang="en-US" sz="850" dirty="0"/>
          </a:p>
        </p:txBody>
      </p:sp>
      <p:sp>
        <p:nvSpPr>
          <p:cNvPr id="75" name="Shape 16">
            <a:extLst>
              <a:ext uri="{FF2B5EF4-FFF2-40B4-BE49-F238E27FC236}">
                <a16:creationId xmlns:a16="http://schemas.microsoft.com/office/drawing/2014/main" id="{404CAC92-B0DC-198B-1710-BB23E436CB24}"/>
              </a:ext>
            </a:extLst>
          </p:cNvPr>
          <p:cNvSpPr/>
          <p:nvPr/>
        </p:nvSpPr>
        <p:spPr>
          <a:xfrm>
            <a:off x="4901184" y="2400300"/>
            <a:ext cx="146304" cy="0"/>
          </a:xfrm>
          <a:prstGeom prst="line">
            <a:avLst/>
          </a:prstGeom>
          <a:noFill/>
          <a:ln w="19050">
            <a:solidFill>
              <a:srgbClr val="B9B4CE"/>
            </a:solidFill>
            <a:prstDash val="solid"/>
            <a:tailEnd type="triangle"/>
          </a:ln>
        </p:spPr>
      </p:sp>
      <p:sp>
        <p:nvSpPr>
          <p:cNvPr id="77" name="Shape 17">
            <a:extLst>
              <a:ext uri="{FF2B5EF4-FFF2-40B4-BE49-F238E27FC236}">
                <a16:creationId xmlns:a16="http://schemas.microsoft.com/office/drawing/2014/main" id="{9055F3CD-BA20-0C33-4998-DDA097D80C5D}"/>
              </a:ext>
            </a:extLst>
          </p:cNvPr>
          <p:cNvSpPr/>
          <p:nvPr/>
        </p:nvSpPr>
        <p:spPr>
          <a:xfrm>
            <a:off x="5047488" y="1234440"/>
            <a:ext cx="2148840" cy="23317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5B4B8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9" name="Shape 18">
            <a:extLst>
              <a:ext uri="{FF2B5EF4-FFF2-40B4-BE49-F238E27FC236}">
                <a16:creationId xmlns:a16="http://schemas.microsoft.com/office/drawing/2014/main" id="{3513DD34-299F-36B4-E069-841C06A23837}"/>
              </a:ext>
            </a:extLst>
          </p:cNvPr>
          <p:cNvSpPr/>
          <p:nvPr/>
        </p:nvSpPr>
        <p:spPr>
          <a:xfrm>
            <a:off x="5939028" y="960120"/>
            <a:ext cx="365760" cy="3657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81" name="Text 19">
            <a:extLst>
              <a:ext uri="{FF2B5EF4-FFF2-40B4-BE49-F238E27FC236}">
                <a16:creationId xmlns:a16="http://schemas.microsoft.com/office/drawing/2014/main" id="{0AD289AC-A0D5-2CDE-EDCA-1C2A6C836E6E}"/>
              </a:ext>
            </a:extLst>
          </p:cNvPr>
          <p:cNvSpPr/>
          <p:nvPr/>
        </p:nvSpPr>
        <p:spPr>
          <a:xfrm>
            <a:off x="5939028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3" name="Text 20">
            <a:extLst>
              <a:ext uri="{FF2B5EF4-FFF2-40B4-BE49-F238E27FC236}">
                <a16:creationId xmlns:a16="http://schemas.microsoft.com/office/drawing/2014/main" id="{748064E3-EE9E-F90F-02C8-0FC5D22E8E80}"/>
              </a:ext>
            </a:extLst>
          </p:cNvPr>
          <p:cNvSpPr/>
          <p:nvPr/>
        </p:nvSpPr>
        <p:spPr>
          <a:xfrm>
            <a:off x="5184648" y="13624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250" dirty="0"/>
          </a:p>
        </p:txBody>
      </p:sp>
      <p:sp>
        <p:nvSpPr>
          <p:cNvPr id="85" name="Text 21">
            <a:extLst>
              <a:ext uri="{FF2B5EF4-FFF2-40B4-BE49-F238E27FC236}">
                <a16:creationId xmlns:a16="http://schemas.microsoft.com/office/drawing/2014/main" id="{5B3CDEB5-986C-9659-45D3-97B1A627A8DB}"/>
              </a:ext>
            </a:extLst>
          </p:cNvPr>
          <p:cNvSpPr/>
          <p:nvPr/>
        </p:nvSpPr>
        <p:spPr>
          <a:xfrm>
            <a:off x="5184648" y="1709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00" dirty="0"/>
          </a:p>
        </p:txBody>
      </p:sp>
      <p:sp>
        <p:nvSpPr>
          <p:cNvPr id="87" name="Text 22">
            <a:extLst>
              <a:ext uri="{FF2B5EF4-FFF2-40B4-BE49-F238E27FC236}">
                <a16:creationId xmlns:a16="http://schemas.microsoft.com/office/drawing/2014/main" id="{C75ED3EF-B9CE-DAE6-B586-DB1329F95887}"/>
              </a:ext>
            </a:extLst>
          </p:cNvPr>
          <p:cNvSpPr/>
          <p:nvPr/>
        </p:nvSpPr>
        <p:spPr>
          <a:xfrm>
            <a:off x="5230368" y="207568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risk classifier</a:t>
            </a:r>
            <a:endParaRPr lang="en-US" sz="900" dirty="0"/>
          </a:p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arrival regressor</a:t>
            </a:r>
            <a:endParaRPr lang="en-US" sz="900" dirty="0"/>
          </a:p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Kp/Dst forecaster</a:t>
            </a:r>
            <a:endParaRPr lang="en-US" sz="900" dirty="0"/>
          </a:p>
        </p:txBody>
      </p:sp>
      <p:sp>
        <p:nvSpPr>
          <p:cNvPr id="89" name="Text 23">
            <a:extLst>
              <a:ext uri="{FF2B5EF4-FFF2-40B4-BE49-F238E27FC236}">
                <a16:creationId xmlns:a16="http://schemas.microsoft.com/office/drawing/2014/main" id="{D5AEC10E-BB59-EDB8-2BD1-3A716FDA078E}"/>
              </a:ext>
            </a:extLst>
          </p:cNvPr>
          <p:cNvSpPr/>
          <p:nvPr/>
        </p:nvSpPr>
        <p:spPr>
          <a:xfrm>
            <a:off x="5184648" y="3273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trained</a:t>
            </a:r>
            <a:endParaRPr lang="en-US" sz="850" dirty="0"/>
          </a:p>
        </p:txBody>
      </p:sp>
      <p:sp>
        <p:nvSpPr>
          <p:cNvPr id="91" name="Shape 24">
            <a:extLst>
              <a:ext uri="{FF2B5EF4-FFF2-40B4-BE49-F238E27FC236}">
                <a16:creationId xmlns:a16="http://schemas.microsoft.com/office/drawing/2014/main" id="{AF154822-A0AC-2E6E-05C1-E6552E4D7338}"/>
              </a:ext>
            </a:extLst>
          </p:cNvPr>
          <p:cNvSpPr/>
          <p:nvPr/>
        </p:nvSpPr>
        <p:spPr>
          <a:xfrm>
            <a:off x="7196328" y="2400300"/>
            <a:ext cx="146304" cy="0"/>
          </a:xfrm>
          <a:prstGeom prst="line">
            <a:avLst/>
          </a:prstGeom>
          <a:noFill/>
          <a:ln w="19050">
            <a:solidFill>
              <a:srgbClr val="B9B4CE"/>
            </a:solidFill>
            <a:prstDash val="solid"/>
            <a:tailEnd type="triangle"/>
          </a:ln>
        </p:spPr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11A04B4B-621B-9E41-FEFB-7E4FE2AF1A21}"/>
              </a:ext>
            </a:extLst>
          </p:cNvPr>
          <p:cNvSpPr/>
          <p:nvPr/>
        </p:nvSpPr>
        <p:spPr>
          <a:xfrm>
            <a:off x="7342632" y="1234440"/>
            <a:ext cx="2148840" cy="23317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16215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5" name="Shape 26">
            <a:extLst>
              <a:ext uri="{FF2B5EF4-FFF2-40B4-BE49-F238E27FC236}">
                <a16:creationId xmlns:a16="http://schemas.microsoft.com/office/drawing/2014/main" id="{903C1CBA-8A61-CA0A-9D25-A652BF819DDC}"/>
              </a:ext>
            </a:extLst>
          </p:cNvPr>
          <p:cNvSpPr/>
          <p:nvPr/>
        </p:nvSpPr>
        <p:spPr>
          <a:xfrm>
            <a:off x="8234172" y="960120"/>
            <a:ext cx="365760" cy="365760"/>
          </a:xfrm>
          <a:prstGeom prst="ellipse">
            <a:avLst/>
          </a:prstGeom>
          <a:solidFill>
            <a:srgbClr val="162154"/>
          </a:solidFill>
          <a:ln/>
        </p:spPr>
      </p:sp>
      <p:sp>
        <p:nvSpPr>
          <p:cNvPr id="97" name="Text 27">
            <a:extLst>
              <a:ext uri="{FF2B5EF4-FFF2-40B4-BE49-F238E27FC236}">
                <a16:creationId xmlns:a16="http://schemas.microsoft.com/office/drawing/2014/main" id="{9AC4A350-A232-9FFD-8E53-C0D4FCBF3555}"/>
              </a:ext>
            </a:extLst>
          </p:cNvPr>
          <p:cNvSpPr/>
          <p:nvPr/>
        </p:nvSpPr>
        <p:spPr>
          <a:xfrm>
            <a:off x="8234172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99" name="Text 28">
            <a:extLst>
              <a:ext uri="{FF2B5EF4-FFF2-40B4-BE49-F238E27FC236}">
                <a16:creationId xmlns:a16="http://schemas.microsoft.com/office/drawing/2014/main" id="{6D965D80-5E92-A336-AEBA-8EEFAF0C891C}"/>
              </a:ext>
            </a:extLst>
          </p:cNvPr>
          <p:cNvSpPr/>
          <p:nvPr/>
        </p:nvSpPr>
        <p:spPr>
          <a:xfrm>
            <a:off x="7479792" y="13624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</a:t>
            </a:r>
            <a:endParaRPr lang="en-US" sz="1250" dirty="0"/>
          </a:p>
        </p:txBody>
      </p:sp>
      <p:sp>
        <p:nvSpPr>
          <p:cNvPr id="101" name="Text 29">
            <a:extLst>
              <a:ext uri="{FF2B5EF4-FFF2-40B4-BE49-F238E27FC236}">
                <a16:creationId xmlns:a16="http://schemas.microsoft.com/office/drawing/2014/main" id="{5EDA0DA2-E744-2FFC-F747-63FA26AAE960}"/>
              </a:ext>
            </a:extLst>
          </p:cNvPr>
          <p:cNvSpPr/>
          <p:nvPr/>
        </p:nvSpPr>
        <p:spPr>
          <a:xfrm>
            <a:off x="7479792" y="1709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Redis</a:t>
            </a:r>
            <a:endParaRPr lang="en-US" sz="900" dirty="0"/>
          </a:p>
        </p:txBody>
      </p:sp>
      <p:sp>
        <p:nvSpPr>
          <p:cNvPr id="103" name="Text 30">
            <a:extLst>
              <a:ext uri="{FF2B5EF4-FFF2-40B4-BE49-F238E27FC236}">
                <a16:creationId xmlns:a16="http://schemas.microsoft.com/office/drawing/2014/main" id="{FA1F6055-A412-C0AD-3CA9-2F894B06F7DC}"/>
              </a:ext>
            </a:extLst>
          </p:cNvPr>
          <p:cNvSpPr/>
          <p:nvPr/>
        </p:nvSpPr>
        <p:spPr>
          <a:xfrm>
            <a:off x="7525512" y="207568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inference</a:t>
            </a:r>
            <a:endParaRPr lang="en-US" sz="900" dirty="0"/>
          </a:p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latest scores</a:t>
            </a:r>
            <a:endParaRPr lang="en-US" sz="900" dirty="0"/>
          </a:p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via WebSocket</a:t>
            </a:r>
            <a:endParaRPr lang="en-US" sz="900" dirty="0"/>
          </a:p>
        </p:txBody>
      </p:sp>
      <p:sp>
        <p:nvSpPr>
          <p:cNvPr id="105" name="Text 31">
            <a:extLst>
              <a:ext uri="{FF2B5EF4-FFF2-40B4-BE49-F238E27FC236}">
                <a16:creationId xmlns:a16="http://schemas.microsoft.com/office/drawing/2014/main" id="{6D140259-C61E-5B46-2B19-798EBF7A9F5D}"/>
              </a:ext>
            </a:extLst>
          </p:cNvPr>
          <p:cNvSpPr/>
          <p:nvPr/>
        </p:nvSpPr>
        <p:spPr>
          <a:xfrm>
            <a:off x="7479792" y="3273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850" dirty="0"/>
          </a:p>
        </p:txBody>
      </p:sp>
      <p:sp>
        <p:nvSpPr>
          <p:cNvPr id="107" name="Shape 32">
            <a:extLst>
              <a:ext uri="{FF2B5EF4-FFF2-40B4-BE49-F238E27FC236}">
                <a16:creationId xmlns:a16="http://schemas.microsoft.com/office/drawing/2014/main" id="{5B574ADC-5310-CCDB-E7FE-9BB86E699B1C}"/>
              </a:ext>
            </a:extLst>
          </p:cNvPr>
          <p:cNvSpPr/>
          <p:nvPr/>
        </p:nvSpPr>
        <p:spPr>
          <a:xfrm>
            <a:off x="9491472" y="2400300"/>
            <a:ext cx="146304" cy="0"/>
          </a:xfrm>
          <a:prstGeom prst="line">
            <a:avLst/>
          </a:prstGeom>
          <a:noFill/>
          <a:ln w="19050">
            <a:solidFill>
              <a:srgbClr val="B9B4CE"/>
            </a:solidFill>
            <a:prstDash val="solid"/>
            <a:tailEnd type="triangle"/>
          </a:ln>
        </p:spPr>
      </p:sp>
      <p:sp>
        <p:nvSpPr>
          <p:cNvPr id="109" name="Shape 33">
            <a:extLst>
              <a:ext uri="{FF2B5EF4-FFF2-40B4-BE49-F238E27FC236}">
                <a16:creationId xmlns:a16="http://schemas.microsoft.com/office/drawing/2014/main" id="{9438C9CB-53E1-2B48-A573-AA9491D8238C}"/>
              </a:ext>
            </a:extLst>
          </p:cNvPr>
          <p:cNvSpPr/>
          <p:nvPr/>
        </p:nvSpPr>
        <p:spPr>
          <a:xfrm>
            <a:off x="9637776" y="1234440"/>
            <a:ext cx="2148840" cy="23317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5B4B8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1" name="Shape 34">
            <a:extLst>
              <a:ext uri="{FF2B5EF4-FFF2-40B4-BE49-F238E27FC236}">
                <a16:creationId xmlns:a16="http://schemas.microsoft.com/office/drawing/2014/main" id="{1A792CAD-5B71-D8D3-EE94-BD7E0E72B406}"/>
              </a:ext>
            </a:extLst>
          </p:cNvPr>
          <p:cNvSpPr/>
          <p:nvPr/>
        </p:nvSpPr>
        <p:spPr>
          <a:xfrm>
            <a:off x="10529316" y="960120"/>
            <a:ext cx="365760" cy="36576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13" name="Text 35">
            <a:extLst>
              <a:ext uri="{FF2B5EF4-FFF2-40B4-BE49-F238E27FC236}">
                <a16:creationId xmlns:a16="http://schemas.microsoft.com/office/drawing/2014/main" id="{A218BEE8-3DF8-418B-5813-EA7E8E3CEED6}"/>
              </a:ext>
            </a:extLst>
          </p:cNvPr>
          <p:cNvSpPr/>
          <p:nvPr/>
        </p:nvSpPr>
        <p:spPr>
          <a:xfrm>
            <a:off x="10529316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15" name="Text 36">
            <a:extLst>
              <a:ext uri="{FF2B5EF4-FFF2-40B4-BE49-F238E27FC236}">
                <a16:creationId xmlns:a16="http://schemas.microsoft.com/office/drawing/2014/main" id="{64376E6A-5332-156D-7D34-821B71FA3217}"/>
              </a:ext>
            </a:extLst>
          </p:cNvPr>
          <p:cNvSpPr/>
          <p:nvPr/>
        </p:nvSpPr>
        <p:spPr>
          <a:xfrm>
            <a:off x="9774936" y="13624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dashboard</a:t>
            </a:r>
            <a:endParaRPr lang="en-US" sz="1250" dirty="0"/>
          </a:p>
        </p:txBody>
      </p:sp>
      <p:sp>
        <p:nvSpPr>
          <p:cNvPr id="117" name="Text 37">
            <a:extLst>
              <a:ext uri="{FF2B5EF4-FFF2-40B4-BE49-F238E27FC236}">
                <a16:creationId xmlns:a16="http://schemas.microsoft.com/office/drawing/2014/main" id="{DF13241F-31D9-4D76-29C7-E8AEB21CF688}"/>
              </a:ext>
            </a:extLst>
          </p:cNvPr>
          <p:cNvSpPr/>
          <p:nvPr/>
        </p:nvSpPr>
        <p:spPr>
          <a:xfrm>
            <a:off x="9774936" y="1709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900" dirty="0"/>
          </a:p>
        </p:txBody>
      </p:sp>
      <p:sp>
        <p:nvSpPr>
          <p:cNvPr id="119" name="Text 38">
            <a:extLst>
              <a:ext uri="{FF2B5EF4-FFF2-40B4-BE49-F238E27FC236}">
                <a16:creationId xmlns:a16="http://schemas.microsoft.com/office/drawing/2014/main" id="{E5584897-284B-A7F0-00BF-8DB5CB9E4BC0}"/>
              </a:ext>
            </a:extLst>
          </p:cNvPr>
          <p:cNvSpPr/>
          <p:nvPr/>
        </p:nvSpPr>
        <p:spPr>
          <a:xfrm>
            <a:off x="9820656" y="207568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&amp; Earth scene</a:t>
            </a:r>
            <a:endParaRPr lang="en-US" sz="900" dirty="0"/>
          </a:p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risk markers</a:t>
            </a:r>
            <a:endParaRPr lang="en-US" sz="900" dirty="0"/>
          </a:p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wavefront animation</a:t>
            </a:r>
            <a:endParaRPr lang="en-US" sz="900" dirty="0"/>
          </a:p>
        </p:txBody>
      </p:sp>
      <p:sp>
        <p:nvSpPr>
          <p:cNvPr id="121" name="Text 39">
            <a:extLst>
              <a:ext uri="{FF2B5EF4-FFF2-40B4-BE49-F238E27FC236}">
                <a16:creationId xmlns:a16="http://schemas.microsoft.com/office/drawing/2014/main" id="{508DEA45-2D8B-3EF9-444F-39336BC19E5D}"/>
              </a:ext>
            </a:extLst>
          </p:cNvPr>
          <p:cNvSpPr/>
          <p:nvPr/>
        </p:nvSpPr>
        <p:spPr>
          <a:xfrm>
            <a:off x="9774936" y="3273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4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 &amp; applications</a:t>
            </a:r>
            <a:endParaRPr lang="en-US" sz="3000" dirty="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7985F0C4-AFF7-0203-A2A0-96490C748704}"/>
              </a:ext>
            </a:extLst>
          </p:cNvPr>
          <p:cNvSpPr/>
          <p:nvPr/>
        </p:nvSpPr>
        <p:spPr>
          <a:xfrm>
            <a:off x="548640" y="10515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82489839-360B-20DA-DDFD-7863B90969CC}"/>
              </a:ext>
            </a:extLst>
          </p:cNvPr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189569B4-54DC-40FC-B3C3-6D3E7C413CE3}"/>
              </a:ext>
            </a:extLst>
          </p:cNvPr>
          <p:cNvSpPr/>
          <p:nvPr/>
        </p:nvSpPr>
        <p:spPr>
          <a:xfrm>
            <a:off x="8229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91574B46-1408-F33B-F70F-E6D26A265043}"/>
              </a:ext>
            </a:extLst>
          </p:cNvPr>
          <p:cNvSpPr/>
          <p:nvPr/>
        </p:nvSpPr>
        <p:spPr>
          <a:xfrm>
            <a:off x="1417320" y="1280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 operators</a:t>
            </a:r>
            <a:endParaRPr lang="en-US" sz="1600" dirty="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2C696620-9D78-AC71-303E-ADA0D68A41FA}"/>
              </a:ext>
            </a:extLst>
          </p:cNvPr>
          <p:cNvSpPr/>
          <p:nvPr/>
        </p:nvSpPr>
        <p:spPr>
          <a:xfrm>
            <a:off x="822960" y="1874520"/>
            <a:ext cx="480060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6987F69E-58E4-6B36-E126-A12E6C8031F9}"/>
              </a:ext>
            </a:extLst>
          </p:cNvPr>
          <p:cNvSpPr/>
          <p:nvPr/>
        </p:nvSpPr>
        <p:spPr>
          <a:xfrm>
            <a:off x="822960" y="20116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or safe-mode satellites ahead of a predicted high-risk window</a:t>
            </a:r>
            <a:endParaRPr lang="en-US" sz="1130" dirty="0"/>
          </a:p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which satellites in a fleet need attention first by orbit type</a:t>
            </a:r>
            <a:endParaRPr lang="en-US" sz="1130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C483F68B-4D8F-5BFA-F707-BC82D774C355}"/>
              </a:ext>
            </a:extLst>
          </p:cNvPr>
          <p:cNvSpPr/>
          <p:nvPr/>
        </p:nvSpPr>
        <p:spPr>
          <a:xfrm>
            <a:off x="6126480" y="10515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362FC4D9-597F-70BA-1CC5-2B6C11C00567}"/>
              </a:ext>
            </a:extLst>
          </p:cNvPr>
          <p:cNvSpPr/>
          <p:nvPr/>
        </p:nvSpPr>
        <p:spPr>
          <a:xfrm>
            <a:off x="6400800" y="132588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3C56CB89-B636-5C95-57F0-0ACCE8C7E2F7}"/>
              </a:ext>
            </a:extLst>
          </p:cNvPr>
          <p:cNvSpPr/>
          <p:nvPr/>
        </p:nvSpPr>
        <p:spPr>
          <a:xfrm>
            <a:off x="64008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ABA65F74-95AE-349F-1369-8B3F5FC0D988}"/>
              </a:ext>
            </a:extLst>
          </p:cNvPr>
          <p:cNvSpPr/>
          <p:nvPr/>
        </p:nvSpPr>
        <p:spPr>
          <a:xfrm>
            <a:off x="6995160" y="1280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grid companies</a:t>
            </a:r>
            <a:endParaRPr lang="en-US" sz="1600" dirty="0"/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C2B531A6-DB64-13D8-F14E-6A2F7893E383}"/>
              </a:ext>
            </a:extLst>
          </p:cNvPr>
          <p:cNvSpPr/>
          <p:nvPr/>
        </p:nvSpPr>
        <p:spPr>
          <a:xfrm>
            <a:off x="6400800" y="1874520"/>
            <a:ext cx="480060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20002B1D-5439-75F3-4E96-0B07EB8022C5}"/>
              </a:ext>
            </a:extLst>
          </p:cNvPr>
          <p:cNvSpPr/>
          <p:nvPr/>
        </p:nvSpPr>
        <p:spPr>
          <a:xfrm>
            <a:off x="6400800" y="20116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geomagnetically induced currents before they stress transformers</a:t>
            </a:r>
            <a:endParaRPr lang="en-US" sz="1130" dirty="0"/>
          </a:p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protective load-shedding during forecast severe storms</a:t>
            </a:r>
            <a:endParaRPr lang="en-US" sz="113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475CA904-498D-ED41-0074-8ABCB3C8AF98}"/>
              </a:ext>
            </a:extLst>
          </p:cNvPr>
          <p:cNvSpPr/>
          <p:nvPr/>
        </p:nvSpPr>
        <p:spPr>
          <a:xfrm>
            <a:off x="548640" y="36118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B9245DE1-EC46-12B1-8E0C-8D1F0EA34180}"/>
              </a:ext>
            </a:extLst>
          </p:cNvPr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162154"/>
          </a:solidFill>
          <a:ln/>
        </p:spPr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4FE7C5E6-00B1-9C26-2975-D0EE9BA9C1BA}"/>
              </a:ext>
            </a:extLst>
          </p:cNvPr>
          <p:cNvSpPr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AE1B0982-4A58-AD5C-F5AE-EF0C3C9E7D0A}"/>
              </a:ext>
            </a:extLst>
          </p:cNvPr>
          <p:cNvSpPr/>
          <p:nvPr/>
        </p:nvSpPr>
        <p:spPr>
          <a:xfrm>
            <a:off x="1417320" y="38404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Aviation industry</a:t>
            </a:r>
            <a:endParaRPr lang="en-US" sz="1600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01BE6AE8-A9C1-0DD6-6FEE-3ED5CA51DBFD}"/>
              </a:ext>
            </a:extLst>
          </p:cNvPr>
          <p:cNvSpPr/>
          <p:nvPr/>
        </p:nvSpPr>
        <p:spPr>
          <a:xfrm>
            <a:off x="822960" y="4434840"/>
            <a:ext cx="480060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BC949D11-3BD7-1F3C-23FA-7213FB5FAA0C}"/>
              </a:ext>
            </a:extLst>
          </p:cNvPr>
          <p:cNvSpPr/>
          <p:nvPr/>
        </p:nvSpPr>
        <p:spPr>
          <a:xfrm>
            <a:off x="822960" y="4572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 polar flights ahead of forecast HF radio blackouts</a:t>
            </a:r>
            <a:endParaRPr lang="en-US" sz="1130" dirty="0"/>
          </a:p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crew and passenger radiation exposure on high-latitude routes</a:t>
            </a:r>
            <a:endParaRPr lang="en-US" sz="1130" dirty="0"/>
          </a:p>
        </p:txBody>
      </p:sp>
      <p:sp>
        <p:nvSpPr>
          <p:cNvPr id="60" name="Shape 19">
            <a:extLst>
              <a:ext uri="{FF2B5EF4-FFF2-40B4-BE49-F238E27FC236}">
                <a16:creationId xmlns:a16="http://schemas.microsoft.com/office/drawing/2014/main" id="{EE7531DE-0A85-C9BE-4577-26E566E2FFF6}"/>
              </a:ext>
            </a:extLst>
          </p:cNvPr>
          <p:cNvSpPr/>
          <p:nvPr/>
        </p:nvSpPr>
        <p:spPr>
          <a:xfrm>
            <a:off x="6126480" y="36118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Shape 20">
            <a:extLst>
              <a:ext uri="{FF2B5EF4-FFF2-40B4-BE49-F238E27FC236}">
                <a16:creationId xmlns:a16="http://schemas.microsoft.com/office/drawing/2014/main" id="{E25C37FE-3952-3305-F4BF-638DB0EFCC1C}"/>
              </a:ext>
            </a:extLst>
          </p:cNvPr>
          <p:cNvSpPr/>
          <p:nvPr/>
        </p:nvSpPr>
        <p:spPr>
          <a:xfrm>
            <a:off x="6400800" y="3886200"/>
            <a:ext cx="457200" cy="457200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FD58D619-3624-0298-3F41-BAEE87C0B3CA}"/>
              </a:ext>
            </a:extLst>
          </p:cNvPr>
          <p:cNvSpPr/>
          <p:nvPr/>
        </p:nvSpPr>
        <p:spPr>
          <a:xfrm>
            <a:off x="64008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7951A495-BD41-0E6C-903B-A00CA5B90B4D}"/>
              </a:ext>
            </a:extLst>
          </p:cNvPr>
          <p:cNvSpPr/>
          <p:nvPr/>
        </p:nvSpPr>
        <p:spPr>
          <a:xfrm>
            <a:off x="6995160" y="38404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Researchers &amp; agencies</a:t>
            </a:r>
            <a:endParaRPr lang="en-US" sz="1600" dirty="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8411B094-0449-7FE0-0D85-06342BA665C4}"/>
              </a:ext>
            </a:extLst>
          </p:cNvPr>
          <p:cNvSpPr/>
          <p:nvPr/>
        </p:nvSpPr>
        <p:spPr>
          <a:xfrm>
            <a:off x="6400800" y="4434840"/>
            <a:ext cx="480060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3FE5A893-19BF-AC8A-A94E-7A68A2B9D298}"/>
              </a:ext>
            </a:extLst>
          </p:cNvPr>
          <p:cNvSpPr/>
          <p:nvPr/>
        </p:nvSpPr>
        <p:spPr>
          <a:xfrm>
            <a:off x="6400800" y="4572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research testbed that complements NOAA SWPC operational forecasts</a:t>
            </a:r>
            <a:endParaRPr lang="en-US" sz="1130" dirty="0"/>
          </a:p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historical event replay for validating new forecasting techniques</a:t>
            </a:r>
            <a:endParaRPr lang="en-US" sz="113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4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of each member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rgbClr val="5B4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66192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Kumar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and preprocesses SHARP, GOES and DONKI data; builds the source-to-feature join pipeline.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3716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091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63220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Akshat Mishra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prediction &amp; CME model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22860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flare occurrence and magnitude classifier from SHARP magnetic features &amp;CME arrival-time and geomagnetic storm severity (Kp/Dst) forecasting models.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>
              <a:solidFill>
                <a:srgbClr val="5A5A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412480" y="1645920"/>
            <a:ext cx="457200" cy="457200"/>
          </a:xfrm>
          <a:prstGeom prst="ellipse">
            <a:avLst/>
          </a:prstGeom>
          <a:solidFill>
            <a:srgbClr val="1621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124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6840" y="1636449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Khatiyan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0684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0" y="22860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3D elements and coordinates mapping for easier visualization. 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7947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05840" y="4069080"/>
            <a:ext cx="457200" cy="457200"/>
          </a:xfrm>
          <a:prstGeom prst="ellipse">
            <a:avLst/>
          </a:prstGeom>
          <a:solidFill>
            <a:srgbClr val="5B4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058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" y="40873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Choudhary</a:t>
            </a:r>
          </a:p>
        </p:txBody>
      </p:sp>
      <p:sp>
        <p:nvSpPr>
          <p:cNvPr id="26" name="Text 24"/>
          <p:cNvSpPr/>
          <p:nvPr/>
        </p:nvSpPr>
        <p:spPr>
          <a:xfrm>
            <a:off x="1600200" y="4361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05840" y="4709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ingestion service, model inference API and prediction database.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37947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09160" y="406908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091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03520" y="4069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Gour </a:t>
            </a:r>
          </a:p>
        </p:txBody>
      </p:sp>
      <p:sp>
        <p:nvSpPr>
          <p:cNvPr id="32" name="Text 30"/>
          <p:cNvSpPr/>
          <p:nvPr/>
        </p:nvSpPr>
        <p:spPr>
          <a:xfrm>
            <a:off x="5303520" y="4361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09160" y="4709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live UI/UX for mapping predictions onto satellites and Earth along with building Logos.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37947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412480" y="4069080"/>
            <a:ext cx="457200" cy="457200"/>
          </a:xfrm>
          <a:prstGeom prst="ellipse">
            <a:avLst/>
          </a:prstGeom>
          <a:solidFill>
            <a:srgbClr val="1621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4124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006840" y="4069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Tavishi Gupta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06840" y="4297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Testing &amp; DevOps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412480" y="4709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testing, GitHub Documentation, report writing and the final presentation.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19" y="548640"/>
            <a:ext cx="107801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1645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Joint Science Operations Center (JSOC) — HMI SHARP active-region data, Stanford University.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3317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Space Weather Prediction Center (SWPC) — real-time solar wind and geomagnetic index data.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0175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DONKI (Space Weather Database of Notifications, Knowledge, Information) — flare, CME and storm event catalog.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7033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X-ray Sensor (XRS) data archive, NOAA / NESDIS.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3891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Bobra, M. G. and Couvidat, S. — Solar flare prediction using SDO/HMI vector magnetic field data.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5074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Space-Track.org — satellite orbital element (TLE) data for orbit-based risk mapping.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74</TotalTime>
  <Words>798</Words>
  <Application>Microsoft Office PowerPoint</Application>
  <PresentationFormat>Widescreen</PresentationFormat>
  <Paragraphs>153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Akshat Mishra</cp:lastModifiedBy>
  <cp:revision>11</cp:revision>
  <dcterms:created xsi:type="dcterms:W3CDTF">2026-08-03T10:16:45Z</dcterms:created>
  <dcterms:modified xsi:type="dcterms:W3CDTF">2026-08-04T17:06:39Z</dcterms:modified>
</cp:coreProperties>
</file>